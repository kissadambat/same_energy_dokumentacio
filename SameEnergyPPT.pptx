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5943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2EFE8"/>
                </a:solidFill>
                <a:latin typeface="DejaVu Serif"/>
              </a:defRPr>
            </a:pPr>
            <a:r>
              <a:t>SAME</a:t>
            </a:r>
          </a:p>
          <a:p>
            <a:pPr>
              <a:defRPr sz="4800" b="1">
                <a:solidFill>
                  <a:srgbClr val="B18B5B"/>
                </a:solidFill>
                <a:latin typeface="DejaVu Serif"/>
              </a:defRPr>
            </a:pPr>
            <a: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9300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E7A74"/>
                </a:solidFill>
                <a:latin typeface="Inter"/>
              </a:defRPr>
            </a:pPr>
            <a:r>
              <a:t>WEBSHOP PROJEKT  •  PEOPLE // PLACES // OUTFITS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681728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EFE8"/>
                </a:solidFill>
                <a:latin typeface="Inter"/>
              </a:defRPr>
            </a:pPr>
            <a:r>
              <a:t>Different People, Same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15000"/>
            <a:ext cx="245772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8B5B"/>
                </a:solidFill>
                <a:latin typeface="Inter"/>
              </a:defRPr>
            </a:pPr>
            <a:r>
              <a:rPr dirty="0"/>
              <a:t>Kiss Ádám  —  Márkus Bercel</a:t>
            </a:r>
            <a:r>
              <a:rPr lang="hu-HU" dirty="0"/>
              <a:t> — Lengyel Csenger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9A05907-2B16-B9C7-A43F-63CDCF30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93" y="886142"/>
            <a:ext cx="3436620" cy="2251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792636-056A-9102-A44E-A554D568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46" y="3493930"/>
            <a:ext cx="3427095" cy="2284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02 / BRAND &amp;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SameEnergy — UI, UX &amp; Brand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A webshop vizuális világa és főoldali struktúrája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383280" cy="324612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496312"/>
            <a:ext cx="29809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MÁRKAIDENTITÁS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84378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999232"/>
            <a:ext cx="29809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Prémium, letisztult sötét téma.</a:t>
            </a:r>
            <a:br/>
            <a:r>
              <a:t>Domináns fekete / sötétszürke háttér arany-sárga kiemelésekkel.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19472"/>
            <a:ext cx="475488" cy="475488"/>
          </a:xfrm>
          <a:prstGeom prst="roundRect">
            <a:avLst/>
          </a:prstGeom>
          <a:solidFill>
            <a:srgbClr val="080808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54480" y="4919472"/>
            <a:ext cx="475488" cy="475488"/>
          </a:xfrm>
          <a:prstGeom prst="roundRect">
            <a:avLst/>
          </a:prstGeom>
          <a:solidFill>
            <a:srgbClr val="111111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94560" y="4919472"/>
            <a:ext cx="475488" cy="475488"/>
          </a:xfrm>
          <a:prstGeom prst="roundRect">
            <a:avLst/>
          </a:prstGeom>
          <a:solidFill>
            <a:srgbClr val="30281F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34639" y="4919472"/>
            <a:ext cx="475488" cy="475488"/>
          </a:xfrm>
          <a:prstGeom prst="roundRect">
            <a:avLst/>
          </a:prstGeom>
          <a:solidFill>
            <a:srgbClr val="B18B5B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97680" y="2331720"/>
            <a:ext cx="3383280" cy="324612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8848" y="2496312"/>
            <a:ext cx="29809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FEJLÉC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843784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999232"/>
            <a:ext cx="29809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Szembetűnő tipográfia:</a:t>
            </a:r>
            <a:br/>
            <a:r>
              <a:t>„SAME ENERGY — Different People, Same Energy”</a:t>
            </a:r>
            <a:br/>
            <a:br/>
            <a:r>
              <a:t>Rögzített, egyszerű navigáció.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2331720"/>
            <a:ext cx="3593592" cy="324612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2496312"/>
            <a:ext cx="31912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KIEMELT TERMÉKEK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84378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999232"/>
            <a:ext cx="319125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Kártyaalapú megjelenítés kategóriákkal:</a:t>
            </a:r>
            <a:br/>
            <a:r>
              <a:t>Air Jordan 1 Retro High OG</a:t>
            </a:r>
            <a:br/>
            <a:r>
              <a:t>Tech Fleece Hoodie</a:t>
            </a:r>
            <a:br/>
            <a:br/>
            <a:r>
              <a:t>Letisztult kártyák kedvencekhez adási lehetőséggel.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03 /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Felhasználói élmény &amp; funkcionális oldalak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A vásárlási útvonal rövid, egyértelmű és minden ponton könnyen áttekinthető.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79792" y="226771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243230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MÁRKÁK ÁTTEKINTÉSE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77977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293522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Átlátható grid a kiemelt márkák gyors böngészéséhez.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79792" y="345643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0" y="362102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KOSÁR &amp; CHECKOUT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968496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412394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Minimál design, gyors összegzés és azonnali „Checkout” gomb.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79792" y="464515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480974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KAPCSOLATI ŰRLAP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15721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531266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Név, Email, Üzenet — gyors és egyszerű ügyfélkommunikáció.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03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8D406C7-73AA-5EA8-4D74-5C40E0CE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99" y="2187677"/>
            <a:ext cx="7296093" cy="3474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04 / 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Adminisztrációs központi vezérlőpult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Biztonságos belépési felület és felügyeleti rendszer a teljes e-commerce infrastruktúrához.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831452125_2745644429249000_1074064326439994700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67712"/>
            <a:ext cx="6537960" cy="36761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79792" y="2267712"/>
            <a:ext cx="4050791" cy="10515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43230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BIZTONSÁGOS HITELesÍTÉS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77977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2935224"/>
            <a:ext cx="364845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Védett munkamenet-kezelés és jogosultságellenőrzés minden kérésnél.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9792" y="3493008"/>
            <a:ext cx="4050791" cy="10515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3657600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SZEREPKÖRALAPÚ HOZZÁFÉRÉS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005072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4160520"/>
            <a:ext cx="364845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Elkülönített Developer, Admin és Support jogosultsági szintek.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4718304"/>
            <a:ext cx="4050791" cy="10515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4882896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ADATBÁZIS-STÁTUSZ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230368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5385816"/>
            <a:ext cx="3648456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Szerverkapcsolat, tranzakciós naplózás és rendszerállapot egy helyen.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05 / PRODUCTS &amp;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Termék- és készletnyilvántartás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A teljes kollekció központi kezelése a felviteltől a készletállapotig.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1307592" cy="361188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479792" y="226771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80960" y="243230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KATALÓGUS KEZELÉS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277977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0" y="293522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Cipők, ruházat és kiegészítők központi nyilvántartása.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79792" y="345643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80960" y="362102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MEZŐK &amp; ADATSTRUKTÚRA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0960" y="3968496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680960" y="412394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ID, leírás, ár, Size, Stock és kép URL-ek.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79792" y="4645152"/>
            <a:ext cx="4050791" cy="10241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680960" y="480974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CRUD &amp; GYORSKERESÉS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515721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680960" y="5312664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Új cikkek felvitele, árak módosítása és valós idejű kategória-szűrés.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05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140C9217-9842-A357-8F73-51AC856F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52" y="2103120"/>
            <a:ext cx="6974440" cy="3920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06 / ORDERS &amp;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Rendeléskezelés és felhasználói hozzáférések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A rendelés állapota és a felhasználói szerepkörök egyetlen adminisztrációs felületen követhetők.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359152"/>
            <a:ext cx="1737360" cy="822960"/>
          </a:xfrm>
          <a:prstGeom prst="roundRect">
            <a:avLst/>
          </a:prstGeom>
          <a:solidFill>
            <a:srgbClr val="111111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5146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B18B5B"/>
                </a:solidFill>
                <a:latin typeface="Inter"/>
              </a:defRPr>
            </a:pPr>
            <a:r>
              <a:t>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529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7E7A74"/>
                </a:solidFill>
                <a:latin typeface="Inter"/>
              </a:defRPr>
            </a:pPr>
            <a:r>
              <a:t>Kifizetve</a:t>
            </a:r>
          </a:p>
        </p:txBody>
      </p:sp>
      <p:sp>
        <p:nvSpPr>
          <p:cNvPr id="13" name="Chevron 12"/>
          <p:cNvSpPr/>
          <p:nvPr/>
        </p:nvSpPr>
        <p:spPr>
          <a:xfrm>
            <a:off x="2478024" y="2596896"/>
            <a:ext cx="246888" cy="329184"/>
          </a:xfrm>
          <a:prstGeom prst="chevron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8063" y="2359152"/>
            <a:ext cx="1737360" cy="822960"/>
          </a:xfrm>
          <a:prstGeom prst="roundRect">
            <a:avLst/>
          </a:prstGeom>
          <a:solidFill>
            <a:srgbClr val="111111"/>
          </a:solidFill>
          <a:ln>
            <a:solidFill>
              <a:srgbClr val="B1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9503" y="25146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B18B5B"/>
                </a:solidFill>
                <a:latin typeface="Inter"/>
              </a:defRPr>
            </a:pPr>
            <a:r>
              <a:t>SHIPPED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3" y="28529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7E7A74"/>
                </a:solidFill>
                <a:latin typeface="Inter"/>
              </a:defRPr>
            </a:pPr>
            <a:r>
              <a:t>Csomagolva / Feladva</a:t>
            </a:r>
          </a:p>
        </p:txBody>
      </p:sp>
      <p:sp>
        <p:nvSpPr>
          <p:cNvPr id="17" name="Chevron 16"/>
          <p:cNvSpPr/>
          <p:nvPr/>
        </p:nvSpPr>
        <p:spPr>
          <a:xfrm>
            <a:off x="4562855" y="2596896"/>
            <a:ext cx="246888" cy="329184"/>
          </a:xfrm>
          <a:prstGeom prst="chevron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82896" y="2359152"/>
            <a:ext cx="1737360" cy="822960"/>
          </a:xfrm>
          <a:prstGeom prst="roundRect">
            <a:avLst/>
          </a:prstGeom>
          <a:solidFill>
            <a:srgbClr val="111111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4336" y="25146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B18B5B"/>
                </a:solidFill>
                <a:latin typeface="Inter"/>
              </a:defRPr>
            </a:pPr>
            <a:r>
              <a:t>DELIVERED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8529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>
                <a:solidFill>
                  <a:srgbClr val="7E7A74"/>
                </a:solidFill>
                <a:latin typeface="Inter"/>
              </a:defRPr>
            </a:pPr>
            <a:r>
              <a:t>Kézbesítve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94760"/>
            <a:ext cx="5303520" cy="15087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959352"/>
            <a:ext cx="49011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FELHASZNÁLÓK &amp; HOZZÁFÉRÉSEK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" y="430682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4462272"/>
            <a:ext cx="4901183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Fiókok és szerepkörök kezelése: Developer • Admin • Customer</a:t>
            </a:r>
            <a:br/>
            <a:r>
              <a:t>A jogosultságok elkülönítik a fejlesztési, adminisztrációs és vásárlói feladatokat.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94760"/>
            <a:ext cx="5358384" cy="15087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959352"/>
            <a:ext cx="4956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RENDELÉSEK NYOMON KÖVETÉSE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4306824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462272"/>
            <a:ext cx="4956048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A logisztikai státuszok folyamatosan frissíthetők, így a rendelés útja a fizetéstől a kézbesítésig követhető.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3AAF2C-2FAF-A7FA-1A6E-0CD3961B9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345" y="835824"/>
            <a:ext cx="3755261" cy="261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07 /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Relációs adatbázis-modell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Normalizált felépítés az adatok integritásáért, gyors lekérdezésekért és skálázhatóságért.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2423160" cy="1709928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2020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4378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999232"/>
            <a:ext cx="202082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id PK</a:t>
            </a:r>
            <a:br/>
            <a:r>
              <a:t>email UNIQUE</a:t>
            </a:r>
            <a:br/>
            <a:r>
              <a:t>role</a:t>
            </a:r>
            <a:br/>
            <a: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331720"/>
            <a:ext cx="2423160" cy="19659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2496312"/>
            <a:ext cx="2020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2843784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29992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id PK</a:t>
            </a:r>
            <a:br/>
            <a:r>
              <a:t>user_id FK</a:t>
            </a:r>
            <a:br/>
            <a:r>
              <a:t>status</a:t>
            </a:r>
            <a:br/>
            <a:r>
              <a:t>total</a:t>
            </a:r>
            <a:br/>
            <a:r>
              <a:t>order_date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2331720"/>
            <a:ext cx="2423160" cy="196596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2496312"/>
            <a:ext cx="2020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order_items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2843784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2999232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id PK</a:t>
            </a:r>
            <a:br/>
            <a:r>
              <a:t>order_id FK</a:t>
            </a:r>
            <a:br/>
            <a:r>
              <a:t>product_id FK</a:t>
            </a:r>
            <a:br/>
            <a:r>
              <a:t>price_snapshot</a:t>
            </a:r>
            <a:br/>
            <a:r>
              <a:t>qty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343400"/>
            <a:ext cx="2423160" cy="2478024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87368" y="4507992"/>
            <a:ext cx="2020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products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7368" y="485546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87368" y="5010912"/>
            <a:ext cx="2020824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id PK</a:t>
            </a:r>
            <a:br/>
            <a:r>
              <a:t>name</a:t>
            </a:r>
            <a:br/>
            <a:r>
              <a:t>description</a:t>
            </a:r>
            <a:br/>
            <a:r>
              <a:t>price</a:t>
            </a:r>
            <a:br/>
            <a:r>
              <a:t>size</a:t>
            </a:r>
            <a:br/>
            <a:r>
              <a:t>stock</a:t>
            </a:r>
            <a:br/>
            <a:r>
              <a:t>image_url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2743200"/>
            <a:ext cx="731520" cy="0"/>
          </a:xfrm>
          <a:prstGeom prst="line">
            <a:avLst/>
          </a:prstGeom>
          <a:ln w="15240">
            <a:solidFill>
              <a:srgbClr val="B1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09360" y="2743200"/>
            <a:ext cx="777240" cy="0"/>
          </a:xfrm>
          <a:prstGeom prst="line">
            <a:avLst/>
          </a:prstGeom>
          <a:ln w="15240">
            <a:solidFill>
              <a:srgbClr val="B1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74920" y="3840480"/>
            <a:ext cx="0" cy="502920"/>
          </a:xfrm>
          <a:prstGeom prst="line">
            <a:avLst/>
          </a:prstGeom>
          <a:ln w="15240">
            <a:solidFill>
              <a:srgbClr val="B1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92640" y="23317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KULCSOK &amp; KAPCSOLATOK</a:t>
            </a:r>
          </a:p>
          <a:p>
            <a:pPr>
              <a:spcAft>
                <a:spcPts val="1000"/>
              </a:spcAft>
              <a:defRPr sz="800">
                <a:solidFill>
                  <a:srgbClr val="7E7A74"/>
                </a:solidFill>
                <a:latin typeface="Inter"/>
              </a:defRPr>
            </a:pPr>
            <a:r>
              <a:t>• PRIMARY KEY + AUTO_INCREMENT</a:t>
            </a:r>
          </a:p>
          <a:p>
            <a:pPr>
              <a:spcAft>
                <a:spcPts val="1000"/>
              </a:spcAft>
              <a:defRPr sz="800">
                <a:solidFill>
                  <a:srgbClr val="7E7A74"/>
                </a:solidFill>
                <a:latin typeface="Inter"/>
              </a:defRPr>
            </a:pPr>
            <a:r>
              <a:t>• FOREIGN KEY a táblák között</a:t>
            </a:r>
          </a:p>
          <a:p>
            <a:pPr>
              <a:spcAft>
                <a:spcPts val="1000"/>
              </a:spcAft>
              <a:defRPr sz="800">
                <a:solidFill>
                  <a:srgbClr val="7E7A74"/>
                </a:solidFill>
                <a:latin typeface="Inter"/>
              </a:defRPr>
            </a:pPr>
            <a:r>
              <a:t>• order_items megőrzi a rendeléskori árat</a:t>
            </a:r>
          </a:p>
          <a:p>
            <a:pPr>
              <a:spcAft>
                <a:spcPts val="1000"/>
              </a:spcAft>
              <a:defRPr sz="800">
                <a:solidFill>
                  <a:srgbClr val="7E7A74"/>
                </a:solidFill>
                <a:latin typeface="Inter"/>
              </a:defRPr>
            </a:pPr>
            <a:r>
              <a:t>• users.email egyedi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08 / DATA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Adatmodell működés közben &amp; mintaadatok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Szerepkörök, rendelés és rendszerintegritás egy valósághű mintahelyzeten keresztül.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286000"/>
            <a:ext cx="3337560" cy="1170432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450592"/>
            <a:ext cx="29352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79806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953512"/>
            <a:ext cx="293522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rPr dirty="0"/>
              <a:t>dev@sameenergy.com</a:t>
            </a:r>
            <a:br>
              <a:rPr dirty="0"/>
            </a:br>
            <a:r>
              <a:rPr dirty="0" err="1"/>
              <a:t>Fejlesztői</a:t>
            </a:r>
            <a:r>
              <a:rPr dirty="0"/>
              <a:t> </a:t>
            </a:r>
            <a:r>
              <a:rPr dirty="0" err="1"/>
              <a:t>hozzáférés</a:t>
            </a:r>
            <a:r>
              <a:rPr lang="hu-HU" dirty="0"/>
              <a:t> + Felhasználók kezelése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315968" y="2286000"/>
            <a:ext cx="3337560" cy="1170432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450592"/>
            <a:ext cx="29352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17136" y="2798064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17136" y="295351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admin@sameenergy.com</a:t>
            </a:r>
            <a:br/>
            <a:r>
              <a:t>Üzleti folyamatok + termékek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286000"/>
            <a:ext cx="3337560" cy="1170432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2450592"/>
            <a:ext cx="29352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2798064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95351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pistvok@gmail.com</a:t>
            </a:r>
            <a:br/>
            <a:r>
              <a:t>Regisztrált vásárló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6537960" cy="169164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895344"/>
            <a:ext cx="61356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MINTA RENDELÉS — ID: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" y="4242816"/>
            <a:ext cx="384048" cy="22860"/>
          </a:xfrm>
          <a:prstGeom prst="rect">
            <a:avLst/>
          </a:prstGeom>
          <a:solidFill>
            <a:srgbClr val="B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398264"/>
            <a:ext cx="61356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pista (user_id: 3) • 104 970 Ft</a:t>
            </a:r>
            <a:br/>
            <a:r>
              <a:t>Tételek: Jordan 1 High OG Chicago • AF1 Black/White • Nike zoknik</a:t>
            </a:r>
            <a:br/>
            <a:r>
              <a:t>Státusz: PAID → SHIPPED → 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3730752"/>
            <a:ext cx="4050791" cy="1691640"/>
          </a:xfrm>
          <a:prstGeom prst="roundRect">
            <a:avLst/>
          </a:prstGeom>
          <a:solidFill>
            <a:srgbClr val="111111"/>
          </a:solidFill>
          <a:ln w="889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3895344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2EFE8"/>
                </a:solidFill>
                <a:latin typeface="Inter"/>
              </a:defRPr>
            </a:pPr>
            <a:r>
              <a:t>RENDSZERINTEGRITÁS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4242816"/>
            <a:ext cx="384048" cy="22860"/>
          </a:xfrm>
          <a:prstGeom prst="rect">
            <a:avLst/>
          </a:prstGeom>
          <a:solidFill>
            <a:srgbClr val="CBA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4398264"/>
            <a:ext cx="36484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7E7A74"/>
                </a:solidFill>
                <a:latin typeface="Inter"/>
              </a:defRPr>
            </a:pPr>
            <a:r>
              <a:t>Elsődleges kulcsok és AUTO_INCREMENT azonosítók.</a:t>
            </a:r>
            <a:br/>
            <a:r>
              <a:t>Külső kulcsok a szigorú kapcsolatokhoz.</a:t>
            </a:r>
            <a:br/>
            <a:r>
              <a:t>Az indexek gyorsítják a gyakori lekérdezéseket.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05840"/>
            <a:ext cx="3017520" cy="301752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98348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18B5B"/>
                </a:solidFill>
                <a:latin typeface="Inter"/>
              </a:defRPr>
            </a:pPr>
            <a:r>
              <a:t>09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EFE8"/>
                </a:solidFill>
                <a:latin typeface="DejaVu Serif"/>
              </a:defRPr>
            </a:pPr>
            <a:r>
              <a:t>Trello &amp; elköszönés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E7A74"/>
                </a:solidFill>
                <a:latin typeface="Inter"/>
              </a:defRPr>
            </a:pPr>
            <a:r>
              <a:t>A projekt feladatait a tervezéstől a fejlesztésen át a kész állapotig követjük.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10835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56046" y="5623560"/>
            <a:ext cx="43579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2EFE8"/>
                </a:solidFill>
                <a:latin typeface="DejaVu Serif"/>
              </a:defRPr>
            </a:pPr>
            <a:r>
              <a:rPr dirty="0"/>
              <a:t>KÖSZÖNJÜK A FIGYELMET  •  SAME ENERGY</a:t>
            </a:r>
            <a:br>
              <a:rPr lang="hu-HU" dirty="0"/>
            </a:br>
            <a:r>
              <a:rPr lang="hu-HU" dirty="0"/>
              <a:t>(Több kép a ppt után lesz)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E7A74"/>
                </a:solidFill>
                <a:latin typeface="Inter"/>
              </a:defRPr>
            </a:pPr>
            <a:r>
              <a:t>SAME ENERGY  •  PEOPLE / PLACES / OUTFITS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2823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18B5B"/>
                </a:solidFill>
                <a:latin typeface="Inter"/>
              </a:defRPr>
            </a:pPr>
            <a:r>
              <a:t>09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997EC36-5F61-3370-676A-697CA0048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219" y="2084832"/>
            <a:ext cx="8103501" cy="3510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760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3</cp:revision>
  <dcterms:created xsi:type="dcterms:W3CDTF">2013-01-27T09:14:16Z</dcterms:created>
  <dcterms:modified xsi:type="dcterms:W3CDTF">2026-10-05T03:47:05Z</dcterms:modified>
  <cp:category/>
</cp:coreProperties>
</file>